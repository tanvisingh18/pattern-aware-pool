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235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1005840"/>
            <a:ext cx="100584" cy="100584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1645920"/>
            <a:ext cx="100584" cy="100584"/>
          </a:xfrm>
          <a:prstGeom prst="ellipse">
            <a:avLst/>
          </a:prstGeom>
          <a:solidFill>
            <a:srgbClr val="00B4A6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66960" y="2377440"/>
            <a:ext cx="100584" cy="100584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55680" y="1188720"/>
            <a:ext cx="100584" cy="100584"/>
          </a:xfrm>
          <a:prstGeom prst="ellipse">
            <a:avLst/>
          </a:prstGeom>
          <a:solidFill>
            <a:srgbClr val="00B4A6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338560" y="2194560"/>
            <a:ext cx="100584" cy="100584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32720" y="3017520"/>
            <a:ext cx="100584" cy="100584"/>
          </a:xfrm>
          <a:prstGeom prst="ellipse">
            <a:avLst/>
          </a:prstGeom>
          <a:solidFill>
            <a:srgbClr val="00B4A6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742932" y="1056132"/>
            <a:ext cx="1463040" cy="182880"/>
          </a:xfrm>
          <a:prstGeom prst="line">
            <a:avLst/>
          </a:prstGeom>
          <a:noFill/>
          <a:ln w="12700">
            <a:solidFill>
              <a:srgbClr val="2E6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17252" y="1696212"/>
            <a:ext cx="640080" cy="731520"/>
          </a:xfrm>
          <a:prstGeom prst="line">
            <a:avLst/>
          </a:prstGeom>
          <a:noFill/>
          <a:ln w="12700">
            <a:solidFill>
              <a:srgbClr val="2E6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42932" y="1056132"/>
            <a:ext cx="274320" cy="1371600"/>
          </a:xfrm>
          <a:prstGeom prst="line">
            <a:avLst/>
          </a:prstGeom>
          <a:noFill/>
          <a:ln w="12700">
            <a:solidFill>
              <a:srgbClr val="2E6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205972" y="1239012"/>
            <a:ext cx="182880" cy="1005840"/>
          </a:xfrm>
          <a:prstGeom prst="line">
            <a:avLst/>
          </a:prstGeom>
          <a:noFill/>
          <a:ln w="12700">
            <a:solidFill>
              <a:srgbClr val="2E6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383012" y="2244852"/>
            <a:ext cx="1005840" cy="822960"/>
          </a:xfrm>
          <a:prstGeom prst="line">
            <a:avLst/>
          </a:prstGeom>
          <a:noFill/>
          <a:ln w="12700">
            <a:solidFill>
              <a:srgbClr val="2E6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383012" y="1696212"/>
            <a:ext cx="274320" cy="1371600"/>
          </a:xfrm>
          <a:prstGeom prst="line">
            <a:avLst/>
          </a:prstGeom>
          <a:noFill/>
          <a:ln w="12700">
            <a:solidFill>
              <a:srgbClr val="2E6E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Connection Pool for Flaky Network Environments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History-Aware Predictive Failure Routing and Pre-Warming for JDBC Connection Pools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37083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Sharma  (23BCE0967)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Tanvi Singh  (23BCE2155)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89320" y="39776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437083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Syamasudha Veeragandham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— Dept. of Software Systems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  |  Vellore Institute of Technology, Vellore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mainstream connection pool is memoryless by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reactive loop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84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validated / used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60704" y="2487168"/>
            <a:ext cx="0" cy="484632"/>
          </a:xfrm>
          <a:prstGeom prst="line">
            <a:avLst/>
          </a:prstGeom>
          <a:noFill/>
          <a:ln w="19050">
            <a:solidFill>
              <a:srgbClr val="AEC2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953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60704" y="3355848"/>
            <a:ext cx="0" cy="484632"/>
          </a:xfrm>
          <a:prstGeom prst="line">
            <a:avLst/>
          </a:prstGeom>
          <a:noFill/>
          <a:ln w="19050">
            <a:solidFill>
              <a:srgbClr val="AEC2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3840480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8221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evicted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60704" y="4224528"/>
            <a:ext cx="0" cy="484632"/>
          </a:xfrm>
          <a:prstGeom prst="line">
            <a:avLst/>
          </a:prstGeom>
          <a:noFill/>
          <a:ln w="19050">
            <a:solidFill>
              <a:srgbClr val="AEC2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6908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connection created next request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WHY, WHEN, or WITH WHICH OTHER connections a failure occurred is ever retained.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data centres. A poor fit at the edge: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1965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83680" y="2167128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degradation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86600" y="244144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solar-interference window on a satellite uplink (e.g. 14:00–15:00)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3375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83680" y="3538728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86600" y="34747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clustering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86600" y="381304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arrive in runs of 3–5 attempts before a cellular link stabilises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55080" y="47091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83680" y="4910328"/>
            <a:ext cx="365760" cy="365760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86600" y="48463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Threshold-triggered resets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086600" y="518464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VPN tunnel that reliably drops after N successful connections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Precisely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should a connection pool behave differently once an endpoint's failures are known to be structured rather than random — and can that structure be learned and acted on using only information the pool already has access to (its own attempt history), without external infrastructure telemetry?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specific, individually verifiable goals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1664208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Recent Literature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486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D" sz="1200" dirty="0">
                <a:solidFill>
                  <a:srgbClr val="44566D"/>
                </a:solidFill>
              </a:rPr>
              <a:t>Survey recent (2024–2026) Q1/high-impact literature on predictive and self-healing fault tolerance across connection management, microservice resilience, and network/edge systems, to establish the current state of the art and pinpoint the specific gap at the client-side connection layer.</a:t>
            </a:r>
            <a:endParaRPr lang="en-US" sz="1200" dirty="0">
              <a:solidFill>
                <a:srgbClr val="44566D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278728" y="146304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07328" y="169164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7328" y="16916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13168" y="1664208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D" sz="1500" b="1" dirty="0"/>
              <a:t>Failure memory &amp; Pattern Learning</a:t>
            </a:r>
            <a:endParaRPr lang="en-US" sz="1500" b="1" dirty="0"/>
          </a:p>
        </p:txBody>
      </p:sp>
      <p:sp>
        <p:nvSpPr>
          <p:cNvPr id="13" name="Text 11"/>
          <p:cNvSpPr/>
          <p:nvPr/>
        </p:nvSpPr>
        <p:spPr>
          <a:xfrm>
            <a:off x="6534760" y="2377440"/>
            <a:ext cx="486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25000"/>
              </a:lnSpc>
            </a:pPr>
            <a:r>
              <a:rPr lang="en-ID" sz="1200" dirty="0">
                <a:solidFill>
                  <a:srgbClr val="44566D"/>
                </a:solidFill>
              </a:rPr>
              <a:t>Record every connection attempt per endpoint (timestamp, outcome, failure type, duration) in a bounded, thread-safe in-memory store with no external database dependency, and derive from that history an hourly EWMA-based failure-rate profile alongside a run-length cluster/burst state per endpoint.</a:t>
            </a:r>
            <a:endParaRPr lang="en-US" sz="1200" dirty="0">
              <a:solidFill>
                <a:srgbClr val="44566D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3995928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D" sz="1500" b="1" dirty="0"/>
              <a:t>Build predictive routing and pre-emptive readiness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709160"/>
            <a:ext cx="486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D" sz="1200" dirty="0">
                <a:solidFill>
                  <a:srgbClr val="44566D"/>
                </a:solidFill>
              </a:rPr>
              <a:t>Compute a per-endpoint risk score from the learned profile and current time/cluster state to route new requests to the lowest-risk endpoint before a failure occurs, and pre-warm and validate backup connections ahead of predicted high-risk windows so failover carries zero connection-establishment latency.</a:t>
            </a:r>
            <a:endParaRPr lang="en-US" sz="1200" dirty="0">
              <a:solidFill>
                <a:srgbClr val="44566D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78728" y="379476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07328" y="402336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07328" y="40233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13168" y="3995928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Proposed Solution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4760" y="4572000"/>
            <a:ext cx="48614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ID" sz="1200" dirty="0">
                <a:solidFill>
                  <a:srgbClr val="44566D"/>
                </a:solidFill>
              </a:rPr>
              <a:t>Present the resulting failure-history-aware JDBC connection pool — EWMA profiling, burst detection, risk scoring, and pre-warming combined — as a concrete, feasible, infrastructure-agnostic response to the gap, requiring no external telemetry, orchestrator access, or co-simulation infrastructure.</a:t>
            </a:r>
            <a:endParaRPr lang="en-US" sz="1200" dirty="0">
              <a:solidFill>
                <a:srgbClr val="44566D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papers, 2024–2026, spanning five research threads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0B4A6"/>
                </a:solidFill>
                <a:latin typeface="Cambria" pitchFamily="34" charset="0"/>
              </a:rPr>
              <a:t>21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reviewed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(2024–2026)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417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51460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threads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417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48056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base paper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(IEEE TMC 2024)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463040"/>
            <a:ext cx="0" cy="1371600"/>
          </a:xfrm>
          <a:prstGeom prst="line">
            <a:avLst/>
          </a:prstGeom>
          <a:noFill/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49440" y="3118104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23760" y="299008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fault tolerance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0" y="32644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breakers, retries, bulkheads — the standard toolkit today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3776472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364845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migration &amp; prediction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23760" y="39227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PreGAN+, Deoxys, graph-RL scheduling at the edge/cloud layer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4434840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430682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resource &amp; network mgmt.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23760" y="45811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slicing (PSSP), cloud network control, IoT/MEC allocation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509320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0" y="496519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failure prediction models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23760" y="5239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networks, mixture-of-experts, LLM-based diagnosis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9440" y="5751576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0" y="56235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prediction (intermittent links)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23760" y="5897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/ inter-satellite link forecasting — the closest domain analogy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 conceptual ancestor of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PreGAN+: Semi-Supervised Fault Prediction and Preemptive Migration in Dynamic Mobile Edge Environments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Tuli, G. Casale, N. R. Jennings  •  IEEE Transactions on Mobile Computing, Vol. 23, No. 6, pp. 6881–6895, 2024  •  Q1 (IF ≈ 8.8)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+ Transformer fault classifier predicts resource contention, pinpoints the failing resource type, and generates preemptive migration decisions — before downtime, not after.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304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/ VM orchestration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co-simulation + scheduler 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8160" y="37033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E9FBF8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56760" y="3886200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6760" y="4297680"/>
            <a:ext cx="304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JDBC pool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 telemetry, no orchestrator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370332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36280" y="3886200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idea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6280" y="4297680"/>
            <a:ext cx="304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 classify → act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failure, not after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Selected Papers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slice of the 21 papers reviewed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67258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Nouruzi et al. — AI-Based E2E Resilient 6G Slicing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TNSE,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Proactivity/resilience as an explicit constraint (PSSP) in resource allocation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Tripathi et al. — GQAT-Net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Grid Comput.,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Attention-based failure prediction, &gt;95% precision on cluster traces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— Deoxys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SoCC,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Causal-inference mitigation recommendations from node failure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 &amp; Mafakheri — Satellite Connectivity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connectivity quality to switch beams before drop is felt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 et al. — FT-MoE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Mixture-of-experts model, continual online tuning for drifting faults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Mohammad — Resilient Microservices (survey)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confirming circuit breakers remain purely reactive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Existing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from the pooling layer outward to infrastructure-scale prediction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95020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Failure-Handling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HikariCP / DBCP2 / c3p0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 on failure, create replacement on next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memory — a daily pattern is re-discovered from scratch every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 (Hystrix, Resilience4j)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after N failures, half-open probe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Purely reactive — first 3–5 requests per cluster still fail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PreGAN+ / Deoxys / graph-RL scheduling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Predicts, migrates/mitigates preemptively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orchestrator, co-simulation, or cluster telemetry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6G slicing / cloud network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PSSP &amp; throughput constraints guarantee proactivity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radio / network-slice level telemetry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 link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orbital / connectivity patterns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 data specific to satellite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57150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reviewed predictive systems treat a client-side pool's own attempt history as the prediction signal.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narrow, defensible gap left open by every layer reviewed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hypervisor telemetry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06240" y="18745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PreGAN+, Deoxys, graph-RL scheduling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radio / orchestrator telemetry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06240" y="2560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slicing, cloud network 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Cluster-wide aggregate traces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32461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GQAT-Net, FT-MoE, LLM-based diagnosis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/ orbital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39319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inter-satellite link prediction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attempt history — used by NOBODY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1874520"/>
            <a:ext cx="4023360" cy="3401568"/>
          </a:xfrm>
          <a:prstGeom prst="roundRect">
            <a:avLst>
              <a:gd name="adj" fmla="val 2151"/>
            </a:avLst>
          </a:prstGeom>
          <a:solidFill>
            <a:srgbClr val="0F3057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in one sentence: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8120" y="24231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application-level JDBC connection pool that treats its own failure history as a first-class, learned signal for pre-emptive per-request routing and pre-warming — requiring no external telemetry, no orchestrator access, and no co-simulation infrastructure.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three-layer, drop-in decorator around a standard JDBC DataSource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E9FBF8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Memory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FailureHistoryStore + PatternAnalyzer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048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attempt (timestamp, endpoint, outcome, duration). Derives hourly EWMA failure rate + run-length burst/cluster state.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892040"/>
            <a:ext cx="3048000" cy="0"/>
          </a:xfrm>
          <a:prstGeom prst="line">
            <a:avLst/>
          </a:prstGeom>
          <a:noFill/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5010912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unit tested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081272" y="3337560"/>
            <a:ext cx="219456" cy="219456"/>
          </a:xfrm>
          <a:prstGeom prst="triangle">
            <a:avLst/>
          </a:prstGeom>
          <a:solidFill>
            <a:srgbClr val="AEC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28160" y="146304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6760" y="1645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676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6760" y="210312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Rerouting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6760" y="2578608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PredictionEngine + RoutingDecider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6760" y="2971800"/>
            <a:ext cx="3048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α·time_of_day + β·cluster_penalty + γ·recent_rate. Silently routes to the lowest-risk endpoint before failure.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56760" y="4892040"/>
            <a:ext cx="3048000" cy="0"/>
          </a:xfrm>
          <a:prstGeom prst="line">
            <a:avLst/>
          </a:prstGeom>
          <a:noFill/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56760" y="5010912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860792" y="3337560"/>
            <a:ext cx="219456" cy="219456"/>
          </a:xfrm>
          <a:prstGeom prst="triangle">
            <a:avLst/>
          </a:prstGeom>
          <a:solidFill>
            <a:srgbClr val="AEC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07680" y="146304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36280" y="1645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3628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36280" y="2103120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Pre-Warming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36280" y="2578608"/>
            <a:ext cx="304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BackupPreWarmer + ConnectionValidator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36280" y="2971800"/>
            <a:ext cx="3048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high-risk windows ahead of time; establishes &amp; validates backup connections so failover has zero setup latency.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36280" y="4892040"/>
            <a:ext cx="3048000" cy="0"/>
          </a:xfrm>
          <a:prstGeom prst="line">
            <a:avLst/>
          </a:prstGeom>
          <a:noFill/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36280" y="5010912"/>
            <a:ext cx="304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next milestone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Different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 is scoped honestly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technique is new in isolation: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EEF2F5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smoothing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EEF2F5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Run-length clustering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EEF2F5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scoring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EEF2F5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pre-warming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F3057"/>
          </a:solidFill>
          <a:ln w="12700">
            <a:solidFill>
              <a:srgbClr val="1E4C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COMBINATION: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Per-endpoint learned time-series + burst models, combined with pre-emptive, silent rerouting and pre-warming inside the connection pool itself — a combination present in none of HikariCP, DBCP2, c3p0, Hystrix, Resilience4j, or the predictive systems reviewed in Section III of the paper.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PreGAN+ / Deoxys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orchestrator + telemetry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needs neither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4251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slicing / net. control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9768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radio/network-slice access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needs only JDBC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251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link prediction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orbital/positional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needs only attempt logs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Feasibility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incrementally so each layer is independently demonstrable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ConnectionPool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46120" y="1371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FailureHistoryStore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371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PatternAnalyzer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41080" y="13716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41080" y="1371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93852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RoutingDecider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93852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BackupPreWarmer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193852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ConnectionValidator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41080" y="193852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41080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PoolMetricsExporter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is kept honest: no exotic tooling, no real satellite/cellular hardware — a deterministic flaky-endpoint simulator reproduces all three motivating patterns in a controlled, repeatable way. Every dependency (java.sql, java.util.concurrent, Spring lifecycle, RMI, JavaFX) is JDK-standard.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23591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history store + EWMA pattern analyzer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7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— unit tested, demonstrated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scoring + pre-emptive routing decider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 (this submission)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backup pre-warming +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— next milestone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ConnectionPool orchestrator around real JDBC DataSource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Planned, alongside Layer 2–3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Polish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7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lifecycle, RMI console, JavaFX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E7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— final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2024–2026 literature shows a clear, well-evidenced shift from reactive detection to predictive, pre-emptive remediation — but that shift has not reached the application-level JDBC connection pool. This project closes that specific gap with a lightweight, infrastructure-agnostic, client-side approach.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70632"/>
            <a:ext cx="310896" cy="31089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770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743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Layer 2 predictive routing + risk-score tuning (α, β, γ)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83864"/>
            <a:ext cx="310896" cy="31089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483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4564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Layer 3 scheduled pre-warming and validation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97096"/>
            <a:ext cx="310896" cy="31089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1970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16966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real JDBC DataSource; wire Spring lifecycle, RMI, JavaFX dashboard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10328"/>
            <a:ext cx="310896" cy="31089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9103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8828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against HikariCP + Resilience4j baseline on the flaky-endpoint simulator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Connection Pool — Project Review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1641</Words>
  <Application>Microsoft Macintosh PowerPoint</Application>
  <PresentationFormat>Widescreen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Tanvi Singh</cp:lastModifiedBy>
  <cp:revision>2</cp:revision>
  <dcterms:created xsi:type="dcterms:W3CDTF">2026-08-07T18:09:58Z</dcterms:created>
  <dcterms:modified xsi:type="dcterms:W3CDTF">2026-08-08T05:00:44Z</dcterms:modified>
</cp:coreProperties>
</file>